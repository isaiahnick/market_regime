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s/comment3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  <p:sldMasterId id="2147483659" r:id="rId2"/>
    <p:sldMasterId id="2147483671" r:id="rId3"/>
  </p:sldMasterIdLst>
  <p:notesMasterIdLst>
    <p:notesMasterId r:id="rId28"/>
  </p:notesMasterIdLst>
  <p:sldIdLst>
    <p:sldId id="256" r:id="rId4"/>
    <p:sldId id="257" r:id="rId5"/>
    <p:sldId id="258" r:id="rId6"/>
    <p:sldId id="267" r:id="rId7"/>
    <p:sldId id="259" r:id="rId8"/>
    <p:sldId id="264" r:id="rId9"/>
    <p:sldId id="263" r:id="rId10"/>
    <p:sldId id="265" r:id="rId11"/>
    <p:sldId id="260" r:id="rId12"/>
    <p:sldId id="261" r:id="rId13"/>
    <p:sldId id="262" r:id="rId14"/>
    <p:sldId id="266" r:id="rId15"/>
    <p:sldId id="269" r:id="rId16"/>
    <p:sldId id="270" r:id="rId17"/>
    <p:sldId id="271" r:id="rId18"/>
    <p:sldId id="268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Open Sans" panose="020B0606030504020204" pitchFamily="34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Roboto Thin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aurav Pai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BBD1E2-3065-4136-96D8-2CC10A51BA94}">
  <a:tblStyle styleId="{93BBD1E2-3065-4136-96D8-2CC10A51BA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7"/>
    <p:restoredTop sz="94694"/>
  </p:normalViewPr>
  <p:slideViewPr>
    <p:cSldViewPr snapToGrid="0">
      <p:cViewPr varScale="1">
        <p:scale>
          <a:sx n="161" d="100"/>
          <a:sy n="161" d="100"/>
        </p:scale>
        <p:origin x="1120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1.fntdata"/><Relationship Id="rId21" Type="http://schemas.openxmlformats.org/officeDocument/2006/relationships/slide" Target="slides/slide18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1.fntdata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0-16T18:55:22.429" idx="1">
    <p:pos x="6000" y="0"/>
    <p:text>Simplify: 
Metric: 1 line explanation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0-16T18:59:25.405" idx="2">
    <p:pos x="6000" y="0"/>
    <p:text>Reference slide before thank you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0-16T18:54:41.804" idx="3">
    <p:pos x="6000" y="0"/>
    <p:text>Process flow chart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Open Sans" panose="020B0606030504020204" pitchFamily="34" charset="0"/>
        <a:cs typeface="Open Sans" panose="020B0606030504020204" pitchFamily="34" charset="0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c50def3e2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c50def3e2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c50def3e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c50def3e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dbb3d4221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dbb3d4221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48449f4a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48449f4a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d550f9b36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d550f9b36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d550f9b36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8d550f9b36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48366ce7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48366ce7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d402152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d402152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d550f9b36_1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d550f9b36_1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Gaussian Mixture Model, or GMM, is a powerful probabilistic tool for regime detection. It assumes that our financial data—like market returns—isn't generated by a single, monolithic distribution, but rather a blend, or mixture, of several distinct underlying groups, which we call regimes.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(0:15) Core Assumption and Regime Definition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core assumption is simple: the market is a weighted sum of K hidden normal distributions. Each of these $K$ regimes is fully defined by three key parameters: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Weight ($\</a:t>
            </a:r>
            <a:r>
              <a:rPr lang="en" dirty="0" err="1">
                <a:solidFill>
                  <a:schemeClr val="dk1"/>
                </a:solidFill>
              </a:rPr>
              <a:t>pi_k</a:t>
            </a:r>
            <a:r>
              <a:rPr lang="en" dirty="0">
                <a:solidFill>
                  <a:schemeClr val="dk1"/>
                </a:solidFill>
              </a:rPr>
              <a:t>$): This tells us the long-term frequency or probability of that regime occurring.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Mean ($\</a:t>
            </a:r>
            <a:r>
              <a:rPr lang="en" dirty="0" err="1">
                <a:solidFill>
                  <a:schemeClr val="dk1"/>
                </a:solidFill>
              </a:rPr>
              <a:t>mu_k</a:t>
            </a:r>
            <a:r>
              <a:rPr lang="en" dirty="0">
                <a:solidFill>
                  <a:schemeClr val="dk1"/>
                </a:solidFill>
              </a:rPr>
              <a:t>$): This represents the average return we expect during that specific regime.</a:t>
            </a:r>
            <a:endParaRPr dirty="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dirty="0">
                <a:solidFill>
                  <a:schemeClr val="dk1"/>
                </a:solidFill>
              </a:rPr>
              <a:t>And Covariance ($\</a:t>
            </a:r>
            <a:r>
              <a:rPr lang="en" dirty="0" err="1">
                <a:solidFill>
                  <a:schemeClr val="dk1"/>
                </a:solidFill>
              </a:rPr>
              <a:t>Sigma_k</a:t>
            </a:r>
            <a:r>
              <a:rPr lang="en" dirty="0">
                <a:solidFill>
                  <a:schemeClr val="dk1"/>
                </a:solidFill>
              </a:rPr>
              <a:t>$): This captures the volatility and the correlation structure of assets within that regime.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d550f9b36_1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d550f9b36_1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GMM is solved using an iterative process called the Expectation-Maximization, or E-M Algorithm. This alternates between two steps until the model converges: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E-Step (Expectation) calculates the probability—we call it $\gamma_{</a:t>
            </a:r>
            <a:r>
              <a:rPr lang="en" dirty="0" err="1">
                <a:solidFill>
                  <a:schemeClr val="dk1"/>
                </a:solidFill>
              </a:rPr>
              <a:t>nk</a:t>
            </a:r>
            <a:r>
              <a:rPr lang="en" dirty="0">
                <a:solidFill>
                  <a:schemeClr val="dk1"/>
                </a:solidFill>
              </a:rPr>
              <a:t>}$—that each individual data point belongs to each regime. The result is a "soft assignment", where every return is fractionally assigned to every regime.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Then, the M-Step (Maximization) uses these "soft" probabilities as weights to re-estimate or maximize the regime parameters—the weights, means, and covariances.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The model cycles through this E-Step/M-Step until the parameters stabilize, giving us our final, distinct regimes</a:t>
            </a: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c989f58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c989f58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d6dc72eb4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8d6dc72eb4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dce15414c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dce15414c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dce15414c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dce15414c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d6dc72eb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8d6dc72eb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d6dc72eb4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d6dc72eb4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dce15414c_0_7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8dce15414c_0_7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48366ce7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948366ce7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8dbb3d422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8dbb3d422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8d4c1514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8d4c1514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d550f9b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8d550f9b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8d550f9b36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8d550f9b36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8c989f587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8c989f587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628650" y="1143001"/>
            <a:ext cx="7886700" cy="28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623888" y="2701434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Open Sans"/>
              <a:buNone/>
              <a:defRPr sz="32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 dirty="0"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Open Sans"/>
              <a:buNone/>
              <a:defRPr sz="32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8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 dirty="0"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 rot="5400000">
            <a:off x="3466650" y="-1468781"/>
            <a:ext cx="22107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2800"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55C1-2CC9-8C82-2512-645580A79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8DFBF-3A8E-DC5B-564A-92AE891F2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E07A0-560A-63E5-AE84-DA2A3323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6BE58-A5FC-08E0-0918-3B7B225E2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CD751-9495-25AE-044E-4D33B2B2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474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B7BDD-7AE4-CE7A-3DB5-FAA1A8BD0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C3C9E-E588-5FBC-3F26-689CC383E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4E65F-5A45-2471-966C-B8C914AB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45468-CCDB-4168-F50C-2959F4783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EF70D-0641-AED0-505A-7968F2689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06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BBA4F-80E0-C3DC-DFFE-CEEDC8A75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2CBE0-E81E-7204-2A3C-61B75192E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740C7-23B5-7D9C-D561-03A0590B1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09FB-07F5-F266-14F4-582C61E1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520C3-376C-223E-D7F5-5A8ECAB9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2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74B3-281C-81D8-3751-72497A57F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1445A-317D-BDBF-FC81-63A3F1C785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618BC-1CB7-D1D0-C47A-3B840B524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98C45B-2F8B-FF5D-5A37-6BEFD8EBE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CD175-A623-4B0E-E1E9-511C810B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3BAE3-09BE-47EB-D2E8-FDF586293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008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4A307-0503-4E5E-0BE7-2E6004C2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BEEA8-739F-7904-A69E-0F18567E5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782D1-4E11-F0F6-BE94-F3C71B7E2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2E389-9D6C-410B-F4A4-634B92E0A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D43FA8-51C8-7BF3-4087-34B4D62A5E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C118D-7F4D-4770-C5B8-BE0340FB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DAA2F-C875-2077-7DA3-91FC5DBA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49AEA-6A95-827E-AB40-202157AA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60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55D1A-43E2-76FC-0CCB-1C2A05FC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24311-4CAE-D91F-2CA2-AC82FE9B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E1C49-5764-5DB4-0839-CB29A6B8C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AF6CC-0271-39B7-4A67-C7AA80FB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712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5FC7B-5EA7-DAA6-D0FF-CDBDC3CB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F9DEA7-DC00-64D8-1709-D48DBCE6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965CA-C993-9EB2-7376-D26D0D2A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134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02D8-A7EA-4B1D-D2DF-30631F17E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FBB6-1BB4-1F5D-76D0-1F1C418F6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4FDE5-FB58-17B7-0C5C-13446F818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000CE-FB39-8A4F-9A38-A163093F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EFDD8-108F-A747-ECFD-ECECFBF7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E72C2-15FA-441B-F1B9-19AF65DA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7979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F91F5-E1DF-482D-DA7E-464B4968E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D37930-83E8-E8FC-94E0-4C32B14BE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946CE5-6CE6-F876-F752-064B68554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B1E0-F4C4-F958-8697-B5B0BB539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BC127-7A75-0124-9596-EA9FA30B6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99D88-C71D-632A-616B-5ECA6E85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566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0C47-D32D-A4F8-D976-71CCAC3F3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E45C1-6D5E-42EC-D45B-0A99D8B98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739F-9BBA-9404-17A7-3D7D95879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C7133-9EC6-C5E3-F780-140B8D00A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C5ACB-36E3-D6EC-8CF2-94869FDC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0098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B0AFF4-2CA6-6658-AF19-021D67479E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470C6C-14C9-CBAD-D938-A8E25A1EF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D78C8-12EC-D64D-F783-C8728F48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FDB4D-BA2B-32AD-45CD-F1340E7A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972F5-9639-806F-F3CF-708B09210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36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0E03-B4B4-4C15-F498-E53C1F1FC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538EC8-0D7E-EC75-141C-172492963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6C38A-6732-B1F1-092F-A3999806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EA781-F680-C490-7BA4-F483A23AF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56A26-40F6-50A6-81EC-BD70A020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90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4065A-FA52-8811-8D65-DBBBBB6CB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93CF8-D8A0-2D5B-9552-7C75A337C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AA1E9-F7B0-E890-20A0-9E051AEB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75E36-ACC3-CE1C-D573-A2B541F0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8989E-A457-C88C-E066-F802B7F6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0394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CC119-75F6-C6AB-AC76-5E464ADA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5EEF6-D2CE-3AD6-A3D0-82EF61C15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377E4-B215-8B74-7093-FBC7ED65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D3CBF-5B35-B091-A97A-9E8711679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FCD72-BF7F-911D-B43A-2E09D9F1F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4439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C946-D8A2-8CB7-D1E0-D372AC12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76A4B-3E48-7EBC-83D7-F07131C016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EF9D5-29DD-2159-D859-8D707FF56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8B090-164E-3A95-F072-1362CB21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88C20-4655-E5D8-8F99-9F10FC2C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A01B9-A613-C5F5-DC1F-314CA3C2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3930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84C3-D034-5284-1DB3-B886933D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32C28-D107-71A0-9558-C182D6CD2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17639-4E5C-7B6B-41C6-E531101CF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456C4-5652-1407-0277-A9971D921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26FE94-56E1-4CCF-E680-8E82E9373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86A9D-3424-6AC4-5A6F-275A6BBC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2367D-0FAB-DDA7-6498-3AE83D36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F29C4-A1A0-92AB-C9B0-9E7DF5AF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618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7EAE-76DC-FE4F-3022-572A8288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7FF9C-967C-E07E-3B50-6B3D5E95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721D9-409A-ACBC-81AD-39E41345D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6787C-B7B5-0A33-1846-898DE125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9090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984AB2-B1F8-0692-0D65-B79C751D3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E6374-20C0-999C-0949-8ABB68761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CF351-6BF4-554F-8457-08B80E11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261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E3C7-0E5D-EB44-409A-ECF7E232B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B271A-06DF-0F8B-3C74-F252D4603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2C3C6-1204-23F9-3238-FFB0E5D4A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61BB6-A94F-C884-3798-138D6143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497C0B-3DCA-B758-18C1-3C65A8324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F3B7B-007A-3BD8-8325-33409B9E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6020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6206-14E7-ED8D-3F4B-A647558F2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73981-E128-9A14-F7A3-ACA4AAF28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C85D87-883C-D2FB-33B4-7D498A431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32934-61AE-4C26-41C3-1609E194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85468-EA08-179B-A372-C53349B3B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D4471-E285-26DB-FFE8-14D02283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794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7654-36EC-0C8E-E33D-4845F55B1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DFDE36-DEA0-444D-D36B-3FBA0A8699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67C4F-CA13-4AAC-0A17-8DB0CC59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D1DCE6-7C0C-77FA-0A48-A1FD24F5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CFAA3-2AA3-C8D9-5368-BF01CC2C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2269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F2198-9E81-4F3C-F2CA-DC01624E2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BF2F0-D063-6F7D-1B0B-65F4DF318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419A6-55C0-8F0E-8C80-A4C8033F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C1939-DEF2-068C-A599-5F7A15D7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120FD-59ED-25F6-11EA-2EE58136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F68C1A4A-66CD-3C4B-B6F3-A03A18E3BE7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6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Open Sans"/>
              <a:buNone/>
              <a:defRPr sz="4400" b="1" i="0" u="none" strike="noStrike" cap="none">
                <a:solidFill>
                  <a:srgbClr val="CC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22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/>
          <p:nvPr/>
        </p:nvSpPr>
        <p:spPr>
          <a:xfrm>
            <a:off x="0" y="4183380"/>
            <a:ext cx="9144000" cy="116400"/>
          </a:xfrm>
          <a:prstGeom prst="rect">
            <a:avLst/>
          </a:prstGeom>
          <a:solidFill>
            <a:srgbClr val="000000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0" y="4299966"/>
            <a:ext cx="9144000" cy="836700"/>
          </a:xfrm>
          <a:prstGeom prst="rect">
            <a:avLst/>
          </a:prstGeom>
          <a:solidFill>
            <a:srgbClr val="CC0000"/>
          </a:solidFill>
          <a:ln w="1270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0;p1" descr="A red background with white text&#10;&#10;Description automatically generated with medium confidence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4402102"/>
            <a:ext cx="3657598" cy="57573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6157504" y="4509043"/>
            <a:ext cx="29103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7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FINANCIAL</a:t>
            </a:r>
            <a:br>
              <a:rPr lang="en" sz="28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</a:br>
            <a:r>
              <a:rPr lang="en" sz="2800" b="0" i="0" u="none" strike="noStrike" cap="none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MATHEMATICS</a:t>
            </a:r>
            <a:endParaRPr sz="1400" b="0" i="0" u="none" strike="noStrike" cap="none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ptos" panose="020B0004020202020204" pitchFamily="34" charset="0"/>
          <a:ea typeface="Open Sans" panose="020B0606030504020204" pitchFamily="34" charset="0"/>
          <a:cs typeface="Open Sans" panose="020B0606030504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ptos" panose="020B0004020202020204" pitchFamily="34" charset="0"/>
          <a:ea typeface="Open Sans" panose="020B0606030504020204" pitchFamily="34" charset="0"/>
          <a:cs typeface="Open Sans" panose="020B0606030504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0FCF5F-1AE3-56AA-C98C-49242B41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716ED-8D2E-827D-F13C-38174AA29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C8E94-E382-1C71-8E4B-2175BC984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374FDBBA-8B99-5F45-9B4A-29D39FF66471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A63BF-4E66-F583-2079-6DEBB8BCB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20439-A4AE-1E58-1629-68A29643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881C64BA-3407-4541-B8C9-0D68A1130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12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04DC79-64CE-090B-BE21-D0C24A6A9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00D65-2EB4-FFE0-1717-DEB5E8640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7E61D-7A4A-B054-51ED-AD88449D40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04250597-40FE-D64E-A5B8-8D5259C457EE}" type="datetimeFigureOut">
              <a:rPr lang="en-US" smtClean="0"/>
              <a:pPr/>
              <a:t>11/18/25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205C-44FD-F333-9430-6FC8F913A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D299E-A509-C1E2-D153-E9731B466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fld id="{AC4B867F-6258-DC43-9CD6-C1C04054C7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98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ctrTitle"/>
          </p:nvPr>
        </p:nvSpPr>
        <p:spPr>
          <a:xfrm>
            <a:off x="311700" y="1168840"/>
            <a:ext cx="8520600" cy="1469307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sym typeface="Arial"/>
              </a:rPr>
              <a:t>Decoding Market DNA: </a:t>
            </a:r>
            <a:endParaRPr sz="2800" dirty="0">
              <a:solidFill>
                <a:srgbClr val="CC0000"/>
              </a:solidFill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sym typeface="Arial"/>
              </a:rPr>
              <a:t>A Machine Learning Regime </a:t>
            </a:r>
            <a:endParaRPr sz="2800" dirty="0">
              <a:solidFill>
                <a:srgbClr val="CC0000"/>
              </a:solidFill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sym typeface="Arial"/>
              </a:rPr>
              <a:t>Detection Framework </a:t>
            </a:r>
            <a:endParaRPr sz="2800" dirty="0"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311700" y="2770514"/>
            <a:ext cx="8520600" cy="68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 dirty="0">
                <a:sym typeface="Arial"/>
              </a:rPr>
              <a:t>Academic Advisors: Dr. Tao Pang, Mr. Patrick Roberts</a:t>
            </a:r>
            <a:endParaRPr sz="1600" dirty="0"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ym typeface="Arial"/>
              </a:rPr>
              <a:t>Project Leader: Sarang Kansara</a:t>
            </a:r>
            <a:endParaRPr sz="1600" dirty="0"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rgbClr val="202124"/>
                </a:solidFill>
                <a:sym typeface="Arial"/>
              </a:rPr>
              <a:t> </a:t>
            </a:r>
            <a:endParaRPr sz="1600" dirty="0">
              <a:solidFill>
                <a:srgbClr val="202124"/>
              </a:solidFill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585750" y="0"/>
            <a:ext cx="5487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/>
        </p:nvSpPr>
        <p:spPr>
          <a:xfrm>
            <a:off x="0" y="-27648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Team</a:t>
            </a:r>
            <a:endParaRPr sz="2800"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813" y="539463"/>
            <a:ext cx="1378725" cy="1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6225" y="2363050"/>
            <a:ext cx="1378725" cy="1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0813" y="2366088"/>
            <a:ext cx="1378725" cy="1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4463" y="536438"/>
            <a:ext cx="1378725" cy="138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46237" y="539475"/>
            <a:ext cx="1378725" cy="13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64476" y="2363050"/>
            <a:ext cx="1378700" cy="138479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/>
        </p:nvSpPr>
        <p:spPr>
          <a:xfrm>
            <a:off x="1500775" y="1736458"/>
            <a:ext cx="13788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Aditya Bedi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abedi@ncsu.edu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3943726" y="3599613"/>
            <a:ext cx="1378800" cy="820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Gaurav Pai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gpai2@ncsu.edu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1500764" y="3589643"/>
            <a:ext cx="13788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Isaiah Nick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idnick@ncsu.edu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6104675" y="1736458"/>
            <a:ext cx="16983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Paritosh Mallick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ppmallic@ncsu.edu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3946188" y="1736458"/>
            <a:ext cx="13788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Siyuan Lu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slu28@ncsu.edu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6264425" y="3599613"/>
            <a:ext cx="1378800" cy="651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Vedashree Teli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vvteli@ncsu.edu</a:t>
            </a:r>
            <a:endParaRPr sz="11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2" name="Google Shape;82;p13"/>
          <p:cNvSpPr txBox="1">
            <a:spLocks noGrp="1"/>
          </p:cNvSpPr>
          <p:nvPr>
            <p:ph type="sldNum" idx="12"/>
          </p:nvPr>
        </p:nvSpPr>
        <p:spPr>
          <a:xfrm>
            <a:off x="8595300" y="3183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/>
        </p:nvSpPr>
        <p:spPr>
          <a:xfrm>
            <a:off x="1121400" y="1084625"/>
            <a:ext cx="72858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distinct market regimes using Gaussian Mixture Models.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Python-based implementation using unsupervised machine learning techniques.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Analyze statistical patterns across the different regimes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Support better risk management and asset allocation decisions.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0" y="111001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Introduction</a:t>
            </a:r>
            <a:endParaRPr sz="2800" dirty="0">
              <a:solidFill>
                <a:srgbClr val="CC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595300" y="25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4</a:t>
            </a:fld>
            <a:endParaRPr dirty="0"/>
          </a:p>
        </p:txBody>
      </p:sp>
      <p:sp>
        <p:nvSpPr>
          <p:cNvPr id="227" name="Google Shape;227;p23"/>
          <p:cNvSpPr/>
          <p:nvPr/>
        </p:nvSpPr>
        <p:spPr>
          <a:xfrm rot="-711236">
            <a:off x="6504262" y="2453201"/>
            <a:ext cx="1350909" cy="5766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8" name="Google Shape;228;p23"/>
          <p:cNvSpPr/>
          <p:nvPr/>
        </p:nvSpPr>
        <p:spPr>
          <a:xfrm rot="711236" flipH="1">
            <a:off x="5219524" y="2453201"/>
            <a:ext cx="1350909" cy="5766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29" name="Google Shape;229;p23"/>
          <p:cNvGrpSpPr/>
          <p:nvPr/>
        </p:nvGrpSpPr>
        <p:grpSpPr>
          <a:xfrm>
            <a:off x="5613813" y="2315069"/>
            <a:ext cx="1712700" cy="1230715"/>
            <a:chOff x="5796625" y="2541798"/>
            <a:chExt cx="1712700" cy="1230715"/>
          </a:xfrm>
        </p:grpSpPr>
        <p:sp>
          <p:nvSpPr>
            <p:cNvPr id="230" name="Google Shape;230;p23"/>
            <p:cNvSpPr/>
            <p:nvPr/>
          </p:nvSpPr>
          <p:spPr>
            <a:xfrm rot="-1789476">
              <a:off x="6572742" y="2571072"/>
              <a:ext cx="160451" cy="160451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5796625" y="3069013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2" name="Google Shape;232;p23"/>
            <p:cNvSpPr txBox="1"/>
            <p:nvPr/>
          </p:nvSpPr>
          <p:spPr>
            <a:xfrm>
              <a:off x="5840875" y="3106213"/>
              <a:ext cx="1624200" cy="624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 dirty="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 sz="800" dirty="0">
                <a:solidFill>
                  <a:srgbClr val="5E5E5E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3" name="Google Shape;233;p23"/>
            <p:cNvSpPr/>
            <p:nvPr/>
          </p:nvSpPr>
          <p:spPr>
            <a:xfrm>
              <a:off x="660797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34" name="Google Shape;234;p23"/>
          <p:cNvSpPr/>
          <p:nvPr/>
        </p:nvSpPr>
        <p:spPr>
          <a:xfrm rot="-711236">
            <a:off x="3938450" y="2453201"/>
            <a:ext cx="1350909" cy="57662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35" name="Google Shape;235;p23"/>
          <p:cNvGrpSpPr/>
          <p:nvPr/>
        </p:nvGrpSpPr>
        <p:grpSpPr>
          <a:xfrm>
            <a:off x="4394613" y="1523422"/>
            <a:ext cx="1712700" cy="1246754"/>
            <a:chOff x="4409300" y="1219942"/>
            <a:chExt cx="1712700" cy="1246754"/>
          </a:xfrm>
        </p:grpSpPr>
        <p:sp>
          <p:nvSpPr>
            <p:cNvPr id="236" name="Google Shape;236;p23"/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39" name="Google Shape;239;p23"/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 dirty="0">
                  <a:solidFill>
                    <a:schemeClr val="lt1"/>
                  </a:solidFill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 Processing</a:t>
              </a:r>
              <a:endParaRPr sz="16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sz="1600" dirty="0">
                <a:solidFill>
                  <a:srgbClr val="5E5E5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0" name="Google Shape;240;p23"/>
          <p:cNvSpPr/>
          <p:nvPr/>
        </p:nvSpPr>
        <p:spPr>
          <a:xfrm rot="711236" flipH="1">
            <a:off x="2646771" y="2453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A729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41" name="Google Shape;241;p23"/>
          <p:cNvGrpSpPr/>
          <p:nvPr/>
        </p:nvGrpSpPr>
        <p:grpSpPr>
          <a:xfrm>
            <a:off x="3115175" y="2315069"/>
            <a:ext cx="1712700" cy="1241505"/>
            <a:chOff x="3021975" y="2541798"/>
            <a:chExt cx="1712700" cy="1241505"/>
          </a:xfrm>
        </p:grpSpPr>
        <p:sp>
          <p:nvSpPr>
            <p:cNvPr id="242" name="Google Shape;242;p23"/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noFill/>
            <a:ln w="38100" cap="flat" cmpd="sng">
              <a:solidFill>
                <a:srgbClr val="B02B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3021975" y="3069013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A7291E"/>
            </a:solidFill>
            <a:ln w="9525" cap="flat" cmpd="sng">
              <a:solidFill>
                <a:srgbClr val="B02B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4" name="Google Shape;244;p23"/>
            <p:cNvSpPr txBox="1"/>
            <p:nvPr/>
          </p:nvSpPr>
          <p:spPr>
            <a:xfrm>
              <a:off x="3066225" y="3069003"/>
              <a:ext cx="1624200" cy="714300"/>
            </a:xfrm>
            <a:prstGeom prst="rect">
              <a:avLst/>
            </a:prstGeom>
            <a:noFill/>
            <a:ln w="9525" cap="flat" cmpd="sng">
              <a:solidFill>
                <a:srgbClr val="B02B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600" dirty="0">
                  <a:solidFill>
                    <a:schemeClr val="lt1"/>
                  </a:solidFill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 Integration</a:t>
              </a:r>
              <a:endParaRPr sz="16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A7291E"/>
            </a:solidFill>
            <a:ln w="9525" cap="flat" cmpd="sng">
              <a:solidFill>
                <a:srgbClr val="B02B2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46" name="Google Shape;246;p23"/>
          <p:cNvSpPr/>
          <p:nvPr/>
        </p:nvSpPr>
        <p:spPr>
          <a:xfrm rot="-711236">
            <a:off x="1372646" y="2453201"/>
            <a:ext cx="1350909" cy="57662"/>
          </a:xfrm>
          <a:prstGeom prst="roundRect">
            <a:avLst>
              <a:gd name="adj" fmla="val 50000"/>
            </a:avLst>
          </a:prstGeom>
          <a:solidFill>
            <a:srgbClr val="A729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247" name="Google Shape;247;p23"/>
          <p:cNvGrpSpPr/>
          <p:nvPr/>
        </p:nvGrpSpPr>
        <p:grpSpPr>
          <a:xfrm>
            <a:off x="1828388" y="1523422"/>
            <a:ext cx="1712700" cy="1246754"/>
            <a:chOff x="1637475" y="1219942"/>
            <a:chExt cx="1712700" cy="1246754"/>
          </a:xfrm>
        </p:grpSpPr>
        <p:sp>
          <p:nvSpPr>
            <p:cNvPr id="248" name="Google Shape;248;p23"/>
            <p:cNvSpPr/>
            <p:nvPr/>
          </p:nvSpPr>
          <p:spPr>
            <a:xfrm>
              <a:off x="1637475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 rot="10800000">
              <a:off x="2448800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1681725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endParaRPr sz="800" dirty="0">
                <a:solidFill>
                  <a:srgbClr val="FFFFFF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51" name="Google Shape;251;p23"/>
            <p:cNvSpPr/>
            <p:nvPr/>
          </p:nvSpPr>
          <p:spPr>
            <a:xfrm rot="-1789476">
              <a:off x="2410765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A7291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252" name="Google Shape;252;p23"/>
          <p:cNvSpPr txBox="1"/>
          <p:nvPr/>
        </p:nvSpPr>
        <p:spPr>
          <a:xfrm>
            <a:off x="614398" y="91195"/>
            <a:ext cx="7999012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Coding Methodology</a:t>
            </a:r>
            <a:endParaRPr sz="2800" dirty="0">
              <a:solidFill>
                <a:srgbClr val="CC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1828400" y="1523425"/>
            <a:ext cx="1712700" cy="75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Database Initialization</a:t>
            </a:r>
            <a:endParaRPr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5613825" y="2957725"/>
            <a:ext cx="17127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Visualization</a:t>
            </a:r>
            <a:endParaRPr sz="16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/>
        </p:nvSpPr>
        <p:spPr>
          <a:xfrm>
            <a:off x="0" y="74438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Market Regimes</a:t>
            </a:r>
            <a:endParaRPr sz="2800" dirty="0">
              <a:solidFill>
                <a:srgbClr val="CC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761002" y="1111700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Steady State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6" name="Google Shape;96;p15"/>
          <p:cNvSpPr/>
          <p:nvPr/>
        </p:nvSpPr>
        <p:spPr>
          <a:xfrm flipH="1">
            <a:off x="1684797" y="1111700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Crisis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7" name="Google Shape;97;p15"/>
          <p:cNvSpPr/>
          <p:nvPr/>
        </p:nvSpPr>
        <p:spPr>
          <a:xfrm rot="10800000" flipH="1">
            <a:off x="4753569" y="2412825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98" name="Google Shape;98;p15"/>
          <p:cNvSpPr/>
          <p:nvPr/>
        </p:nvSpPr>
        <p:spPr>
          <a:xfrm rot="10800000">
            <a:off x="1684797" y="2412825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2325450" y="2672475"/>
            <a:ext cx="1416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Inflation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910917" y="2672475"/>
            <a:ext cx="2383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Walking on Ice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/>
        </p:nvSpPr>
        <p:spPr>
          <a:xfrm>
            <a:off x="1371363" y="189231"/>
            <a:ext cx="5987700" cy="7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1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Data Sources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70" name="Google Shape;170;p20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6</a:t>
            </a:fld>
            <a:endParaRPr dirty="0"/>
          </a:p>
        </p:txBody>
      </p:sp>
      <p:grpSp>
        <p:nvGrpSpPr>
          <p:cNvPr id="171" name="Google Shape;171;p20"/>
          <p:cNvGrpSpPr/>
          <p:nvPr/>
        </p:nvGrpSpPr>
        <p:grpSpPr>
          <a:xfrm>
            <a:off x="1593013" y="2905129"/>
            <a:ext cx="5957975" cy="643500"/>
            <a:chOff x="1593000" y="2322568"/>
            <a:chExt cx="5957975" cy="643500"/>
          </a:xfrm>
        </p:grpSpPr>
        <p:sp>
          <p:nvSpPr>
            <p:cNvPr id="172" name="Google Shape;172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Kenneth R. French Data Library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8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Fama-French Research Factors</a:t>
              </a:r>
              <a:endParaRPr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1593013" y="2250011"/>
            <a:ext cx="5957975" cy="643500"/>
            <a:chOff x="1593000" y="2322568"/>
            <a:chExt cx="5957975" cy="643500"/>
          </a:xfrm>
        </p:grpSpPr>
        <p:sp>
          <p:nvSpPr>
            <p:cNvPr id="180" name="Google Shape;180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Medium"/>
                  <a:cs typeface="Roboto Medium"/>
                  <a:sym typeface="Roboto Medium"/>
                </a:rPr>
                <a:t>FRED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8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Treasury Yields</a:t>
              </a:r>
              <a:endParaRPr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8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Macroeconomic Data</a:t>
              </a:r>
              <a:endParaRPr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7" name="Google Shape;187;p20"/>
          <p:cNvGrpSpPr/>
          <p:nvPr/>
        </p:nvGrpSpPr>
        <p:grpSpPr>
          <a:xfrm>
            <a:off x="1593013" y="1594884"/>
            <a:ext cx="5957975" cy="643500"/>
            <a:chOff x="1593000" y="2322568"/>
            <a:chExt cx="5957975" cy="643500"/>
          </a:xfrm>
        </p:grpSpPr>
        <p:sp>
          <p:nvSpPr>
            <p:cNvPr id="188" name="Google Shape;188;p20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Medium"/>
                  <a:cs typeface="Roboto Medium"/>
                  <a:sym typeface="Roboto Medium"/>
                </a:rPr>
                <a:t>Bloomberg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dirty="0">
                <a:solidFill>
                  <a:srgbClr val="FFFFFF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94" name="Google Shape;194;p20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8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Equity</a:t>
              </a:r>
              <a:endParaRPr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8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Commodities</a:t>
              </a:r>
              <a:endParaRPr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2794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8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Roboto"/>
                  <a:ea typeface="Roboto"/>
                  <a:cs typeface="Roboto"/>
                  <a:sym typeface="Roboto"/>
                </a:rPr>
                <a:t>Global Fixed Income </a:t>
              </a:r>
              <a:endParaRPr sz="1000" dirty="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1578150" y="24975"/>
            <a:ext cx="5987700" cy="5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1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Feature Selection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grpSp>
        <p:nvGrpSpPr>
          <p:cNvPr id="131" name="Google Shape;131;p19"/>
          <p:cNvGrpSpPr/>
          <p:nvPr/>
        </p:nvGrpSpPr>
        <p:grpSpPr>
          <a:xfrm>
            <a:off x="1303629" y="2418552"/>
            <a:ext cx="7034581" cy="759780"/>
            <a:chOff x="1593000" y="2322568"/>
            <a:chExt cx="5957975" cy="643500"/>
          </a:xfrm>
        </p:grpSpPr>
        <p:sp>
          <p:nvSpPr>
            <p:cNvPr id="132" name="Google Shape;132;p1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3" name="Google Shape;133;p1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4" name="Google Shape;134;p1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Medium"/>
                  <a:cs typeface="Roboto Medium"/>
                  <a:sym typeface="Roboto Medium"/>
                </a:rPr>
                <a:t>Commodities/FX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84346" dist="33738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Thin"/>
                  <a:cs typeface="Roboto Thin"/>
                  <a:sym typeface="Roboto Thin"/>
                </a:rPr>
                <a:t>03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539816" lvl="0" indent="-333408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DXY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539816" lvl="0" indent="-333408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WTI Spot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539816" lvl="0" indent="-333408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Gold Spot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9" name="Google Shape;139;p19"/>
          <p:cNvGrpSpPr/>
          <p:nvPr/>
        </p:nvGrpSpPr>
        <p:grpSpPr>
          <a:xfrm>
            <a:off x="1303627" y="1715847"/>
            <a:ext cx="7034581" cy="705958"/>
            <a:chOff x="1593000" y="2322568"/>
            <a:chExt cx="5957975" cy="646481"/>
          </a:xfrm>
        </p:grpSpPr>
        <p:sp>
          <p:nvSpPr>
            <p:cNvPr id="140" name="Google Shape;140;p1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Medium"/>
                  <a:cs typeface="Roboto Medium"/>
                  <a:sym typeface="Roboto Medium"/>
                </a:rPr>
                <a:t>Fixed Income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Thin"/>
                  <a:cs typeface="Roboto Thin"/>
                  <a:sym typeface="Roboto Thin"/>
                </a:rPr>
                <a:t>02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4426577" y="2326749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0" indent="-2921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T-Bill Yields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457200" lvl="0" indent="-2921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JGB 10-Year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457200" lvl="0" indent="-2921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MBS Index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7" name="Google Shape;147;p19"/>
          <p:cNvGrpSpPr/>
          <p:nvPr/>
        </p:nvGrpSpPr>
        <p:grpSpPr>
          <a:xfrm>
            <a:off x="1303629" y="955978"/>
            <a:ext cx="7034581" cy="759780"/>
            <a:chOff x="1593000" y="2322568"/>
            <a:chExt cx="5957975" cy="643500"/>
          </a:xfrm>
        </p:grpSpPr>
        <p:sp>
          <p:nvSpPr>
            <p:cNvPr id="148" name="Google Shape;148;p1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Medium"/>
                  <a:cs typeface="Roboto Medium"/>
                  <a:sym typeface="Roboto Medium"/>
                </a:rPr>
                <a:t>Equity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84348" dist="33739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Thin"/>
                  <a:cs typeface="Roboto Thin"/>
                  <a:sym typeface="Roboto Thin"/>
                </a:rPr>
                <a:t>01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54" name="Google Shape;154;p19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539830" lvl="0" indent="-33341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S&amp;P 500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539830" lvl="0" indent="-33341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MSCI Emerging Markets Index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539830" lvl="0" indent="-333415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Fama-French Research Factor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19"/>
          <p:cNvGrpSpPr/>
          <p:nvPr/>
        </p:nvGrpSpPr>
        <p:grpSpPr>
          <a:xfrm>
            <a:off x="1303641" y="3178344"/>
            <a:ext cx="7034581" cy="759780"/>
            <a:chOff x="1593000" y="2322568"/>
            <a:chExt cx="5957975" cy="643500"/>
          </a:xfrm>
        </p:grpSpPr>
        <p:sp>
          <p:nvSpPr>
            <p:cNvPr id="156" name="Google Shape;156;p19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7" name="Google Shape;157;p19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8" name="Google Shape;158;p19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A7291E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59" name="Google Shape;159;p19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Medium"/>
                  <a:cs typeface="Roboto Medium"/>
                  <a:sym typeface="Roboto Medium"/>
                </a:rPr>
                <a:t>Macroeconomic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0" name="Google Shape;160;p19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B02B20"/>
            </a:solidFill>
            <a:ln>
              <a:noFill/>
            </a:ln>
            <a:effectLst>
              <a:outerShdw blurRad="84346" dist="33738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161" name="Google Shape;161;p19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BE2F22"/>
            </a:solidFill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FFFFFF"/>
                  </a:solidFill>
                  <a:latin typeface="Aptos" panose="020B0004020202020204" pitchFamily="34" charset="0"/>
                  <a:ea typeface="Roboto Thin"/>
                  <a:cs typeface="Roboto Thin"/>
                  <a:sym typeface="Roboto Thin"/>
                </a:rPr>
                <a:t>04</a:t>
              </a:r>
              <a:endParaRPr dirty="0">
                <a:solidFill>
                  <a:srgbClr val="FFFFFF"/>
                </a:solidFill>
                <a:latin typeface="Aptos" panose="020B0004020202020204" pitchFamily="34" charset="0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162" name="Google Shape;162;p19"/>
            <p:cNvSpPr/>
            <p:nvPr/>
          </p:nvSpPr>
          <p:spPr>
            <a:xfrm>
              <a:off x="4387850" y="2323750"/>
              <a:ext cx="2971200" cy="64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7950" tIns="107950" rIns="107950" bIns="107950" anchor="ctr" anchorCtr="0">
              <a:noAutofit/>
            </a:bodyPr>
            <a:lstStyle/>
            <a:p>
              <a:pPr marL="539812" lvl="0" indent="-333406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GDP Growth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539812" lvl="0" indent="-333406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Unemployment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  <a:p>
              <a:pPr marL="539812" lvl="0" indent="-333406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7291E"/>
                </a:buClr>
                <a:buSzPts val="1000"/>
                <a:buFont typeface="Roboto"/>
                <a:buChar char="●"/>
              </a:pPr>
              <a:r>
                <a:rPr lang="en" sz="1000" dirty="0">
                  <a:solidFill>
                    <a:srgbClr val="A7291E"/>
                  </a:solidFill>
                  <a:latin typeface="Aptos" panose="020B0004020202020204" pitchFamily="34" charset="0"/>
                  <a:ea typeface="Roboto"/>
                  <a:cs typeface="Roboto"/>
                  <a:sym typeface="Roboto"/>
                </a:rPr>
                <a:t>Consumption</a:t>
              </a:r>
              <a:endParaRPr sz="1000" dirty="0">
                <a:solidFill>
                  <a:srgbClr val="A7291E"/>
                </a:solidFill>
                <a:latin typeface="Aptos" panose="020B0004020202020204" pitchFamily="34" charset="0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3" name="Google Shape;163;p19"/>
          <p:cNvSpPr txBox="1"/>
          <p:nvPr/>
        </p:nvSpPr>
        <p:spPr>
          <a:xfrm>
            <a:off x="1625900" y="478425"/>
            <a:ext cx="5987700" cy="3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78 features selected across 4 categories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64" name="Google Shape;164;p19"/>
          <p:cNvSpPr txBox="1">
            <a:spLocks noGrp="1"/>
          </p:cNvSpPr>
          <p:nvPr>
            <p:ph type="sldNum" idx="12"/>
          </p:nvPr>
        </p:nvSpPr>
        <p:spPr>
          <a:xfrm>
            <a:off x="8595300" y="2497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1400"/>
              <a:t>7</a:t>
            </a:fld>
            <a:endParaRPr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/>
        </p:nvSpPr>
        <p:spPr>
          <a:xfrm>
            <a:off x="0" y="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PCA</a:t>
            </a:r>
            <a:endParaRPr sz="2800" dirty="0">
              <a:solidFill>
                <a:srgbClr val="CC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aphicFrame>
        <p:nvGraphicFramePr>
          <p:cNvPr id="200" name="Google Shape;200;p21"/>
          <p:cNvGraphicFramePr/>
          <p:nvPr/>
        </p:nvGraphicFramePr>
        <p:xfrm>
          <a:off x="5126800" y="613700"/>
          <a:ext cx="3362325" cy="3361775"/>
        </p:xfrm>
        <a:graphic>
          <a:graphicData uri="http://schemas.openxmlformats.org/drawingml/2006/table">
            <a:tbl>
              <a:tblPr>
                <a:noFill/>
                <a:tableStyleId>{93BBD1E2-3065-4136-96D8-2CC10A51BA94}</a:tableStyleId>
              </a:tblPr>
              <a:tblGrid>
                <a:gridCol w="67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PC1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 err="1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MXWO_Index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+0.22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PC2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THREEFYTP10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+0.38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PC3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 err="1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BCOM_Index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+0.34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PC4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FF_UMD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+0.39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PC5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C1_Comdty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+0.41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PC6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FF_HML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+0.31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PC7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FF_RMW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+0.49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PC8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FF_SMB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-0.41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PC9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DGS30_minus_DGS5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+0.24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8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PC10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 err="1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NEIXBTRND_Index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0" i="0" dirty="0">
                          <a:latin typeface="Aptos" panose="020B0004020202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+0.32</a:t>
                      </a:r>
                      <a:endParaRPr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75" y="567050"/>
            <a:ext cx="4821999" cy="348476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sp>
        <p:nvSpPr>
          <p:cNvPr id="203" name="Google Shape;203;p21"/>
          <p:cNvSpPr/>
          <p:nvPr/>
        </p:nvSpPr>
        <p:spPr>
          <a:xfrm>
            <a:off x="1274475" y="3326500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577125" y="2187725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879800" y="2473700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2188050" y="1902575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2490725" y="1331475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787800" y="1049775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3084925" y="768075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693675" y="3036625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3398700" y="1631000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004025" y="2755775"/>
            <a:ext cx="339600" cy="3228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/>
        </p:nvSpPr>
        <p:spPr>
          <a:xfrm>
            <a:off x="-100" y="80900"/>
            <a:ext cx="91440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1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K- Means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16375" y="816026"/>
            <a:ext cx="4189800" cy="26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• Unsupervised learning algorithm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• Groups data into K clusters based on similarity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• Minimizes within-cluster variance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Aptos" panose="020B0004020202020204" pitchFamily="34" charset="0"/>
                <a:ea typeface="Calibri"/>
                <a:cs typeface="Calibri"/>
                <a:sym typeface="Calibri"/>
              </a:rPr>
              <a:t>• Each cluster represented by a centroid</a:t>
            </a:r>
            <a:endParaRPr sz="1600" dirty="0">
              <a:solidFill>
                <a:schemeClr val="dk1"/>
              </a:solidFill>
              <a:latin typeface="Aptos" panose="020B0004020202020204" pitchFamily="34" charset="0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85952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pic>
        <p:nvPicPr>
          <p:cNvPr id="109" name="Google Shape;109;p16" title="kmeans_example_cl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175" y="658700"/>
            <a:ext cx="4483722" cy="3347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1578150" y="0"/>
            <a:ext cx="5987700" cy="7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1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Gaussian Mixture Models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66300" y="639225"/>
            <a:ext cx="8411400" cy="3954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Gaussian Mixture Model (GMM) is a probabilistic model that assumes data (like market returns) is generated from a mixture of several underlying groups, or regimes.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 Assumption: The market is not one distribution, but a weighted sum of K hidden normal distributions (regimes).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Regime Definition: Each regime k is defined by three parameters: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Weight (π</a:t>
            </a:r>
            <a:r>
              <a:rPr lang="en" baseline="-250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​): How often the regime occurs.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Mean (</a:t>
            </a:r>
            <a:r>
              <a:rPr lang="en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μ</a:t>
            </a:r>
            <a:r>
              <a:rPr lang="en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​): The average return of the regime.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Covariance (</a:t>
            </a:r>
            <a:r>
              <a:rPr lang="en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Σ</a:t>
            </a:r>
            <a:r>
              <a:rPr lang="en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baseline="-250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 The volatility and correlation structure.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925" y="2045130"/>
            <a:ext cx="2416150" cy="6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/>
        </p:nvSpPr>
        <p:spPr>
          <a:xfrm>
            <a:off x="-31500" y="8875"/>
            <a:ext cx="92070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1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Gaussian Mixture Models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159026" y="784175"/>
            <a:ext cx="8800808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Expectation-Maximization (E-M) Algorithm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E-Step (Expectation)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Goal: Calculate the probability (</a:t>
            </a:r>
            <a:r>
              <a:rPr lang="en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γ</a:t>
            </a:r>
            <a:r>
              <a:rPr lang="en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nk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 that each return belongs to each regime.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Result: A "soft assignment" where every data point is fractionally assigned to every regime.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M-Step (Maximization)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Goal: Update the regime parameters (π</a:t>
            </a:r>
            <a:r>
              <a:rPr lang="en" baseline="-250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​, </a:t>
            </a:r>
            <a:r>
              <a:rPr lang="en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μ</a:t>
            </a:r>
            <a:r>
              <a:rPr lang="en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​, </a:t>
            </a:r>
            <a:r>
              <a:rPr lang="en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Σ</a:t>
            </a:r>
            <a:r>
              <a:rPr lang="en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Process: Use the E-Step probabilities (</a:t>
            </a:r>
            <a:r>
              <a:rPr lang="en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γ</a:t>
            </a:r>
            <a:r>
              <a:rPr lang="en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as weights to recalculate the mean, covariance, and weight for each regime.</a:t>
            </a:r>
            <a:endParaRPr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0567" y="2482775"/>
            <a:ext cx="2362866" cy="48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8595300" y="887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 txBox="1">
            <a:spLocks noGrp="1"/>
          </p:cNvSpPr>
          <p:nvPr>
            <p:ph type="title"/>
          </p:nvPr>
        </p:nvSpPr>
        <p:spPr>
          <a:xfrm>
            <a:off x="186966" y="-102175"/>
            <a:ext cx="89154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Performance Metrics</a:t>
            </a:r>
            <a:endParaRPr sz="2800" dirty="0"/>
          </a:p>
        </p:txBody>
      </p:sp>
      <p:sp>
        <p:nvSpPr>
          <p:cNvPr id="218" name="Google Shape;218;p22"/>
          <p:cNvSpPr txBox="1">
            <a:spLocks noGrp="1"/>
          </p:cNvSpPr>
          <p:nvPr>
            <p:ph type="sldNum" idx="12"/>
          </p:nvPr>
        </p:nvSpPr>
        <p:spPr>
          <a:xfrm>
            <a:off x="8595300" y="132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sp>
        <p:nvSpPr>
          <p:cNvPr id="219" name="Google Shape;219;p22"/>
          <p:cNvSpPr/>
          <p:nvPr/>
        </p:nvSpPr>
        <p:spPr>
          <a:xfrm flipH="1">
            <a:off x="1315748" y="932725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AIC/BIC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0" name="Google Shape;220;p22"/>
          <p:cNvSpPr/>
          <p:nvPr/>
        </p:nvSpPr>
        <p:spPr>
          <a:xfrm flipH="1">
            <a:off x="4572000" y="932725"/>
            <a:ext cx="2698200" cy="11352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Silhouette Score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21" name="Google Shape;221;p22"/>
          <p:cNvSpPr/>
          <p:nvPr/>
        </p:nvSpPr>
        <p:spPr>
          <a:xfrm flipH="1">
            <a:off x="2954573" y="2378758"/>
            <a:ext cx="2698200" cy="11352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Regime metrics </a:t>
            </a:r>
            <a:endParaRPr sz="24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Results</a:t>
            </a:r>
            <a:endParaRPr sz="2800" dirty="0"/>
          </a:p>
        </p:txBody>
      </p:sp>
      <p:sp>
        <p:nvSpPr>
          <p:cNvPr id="287" name="Google Shape;287;p25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pic>
        <p:nvPicPr>
          <p:cNvPr id="288" name="Google Shape;288;p25" title="table_regime_returns_cl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25" y="720225"/>
            <a:ext cx="3962926" cy="339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 title="table_regime_volatilities_cle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826" y="720225"/>
            <a:ext cx="3962926" cy="3394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14</a:t>
            </a:fld>
            <a:endParaRPr dirty="0"/>
          </a:p>
        </p:txBody>
      </p:sp>
      <p:pic>
        <p:nvPicPr>
          <p:cNvPr id="295" name="Google Shape;295;p26" title="regime_timeseries.png"/>
          <p:cNvPicPr preferRelativeResize="0"/>
          <p:nvPr/>
        </p:nvPicPr>
        <p:blipFill rotWithShape="1">
          <a:blip r:embed="rId3">
            <a:alphaModFix/>
          </a:blip>
          <a:srcRect t="48762"/>
          <a:stretch/>
        </p:blipFill>
        <p:spPr>
          <a:xfrm>
            <a:off x="176500" y="640625"/>
            <a:ext cx="8790999" cy="29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7" title="Screenshot 2025-10-17 at 3.38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8839204" cy="1333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title="Screenshot 2025-10-17 at 3.43.5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84737"/>
            <a:ext cx="8839204" cy="1329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 title="Screenshot 2025-10-17 at 3.44.48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765158"/>
            <a:ext cx="8839204" cy="132933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7"/>
          <p:cNvSpPr txBox="1">
            <a:spLocks noGrp="1"/>
          </p:cNvSpPr>
          <p:nvPr>
            <p:ph type="sldNum" idx="12"/>
          </p:nvPr>
        </p:nvSpPr>
        <p:spPr>
          <a:xfrm>
            <a:off x="8658911" y="-5903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Challenges</a:t>
            </a:r>
            <a:endParaRPr sz="2800" dirty="0"/>
          </a:p>
        </p:txBody>
      </p:sp>
      <p:sp>
        <p:nvSpPr>
          <p:cNvPr id="260" name="Google Shape;260;p24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16</a:t>
            </a:fld>
            <a:endParaRPr dirty="0"/>
          </a:p>
        </p:txBody>
      </p:sp>
      <p:grpSp>
        <p:nvGrpSpPr>
          <p:cNvPr id="261" name="Google Shape;261;p24"/>
          <p:cNvGrpSpPr/>
          <p:nvPr/>
        </p:nvGrpSpPr>
        <p:grpSpPr>
          <a:xfrm>
            <a:off x="6038025" y="2411210"/>
            <a:ext cx="2469661" cy="1384500"/>
            <a:chOff x="6038025" y="2598925"/>
            <a:chExt cx="2469661" cy="1384500"/>
          </a:xfrm>
        </p:grpSpPr>
        <p:cxnSp>
          <p:nvCxnSpPr>
            <p:cNvPr id="262" name="Google Shape;262;p24"/>
            <p:cNvCxnSpPr/>
            <p:nvPr/>
          </p:nvCxnSpPr>
          <p:spPr>
            <a:xfrm>
              <a:off x="6038025" y="3312550"/>
              <a:ext cx="582000" cy="0"/>
            </a:xfrm>
            <a:prstGeom prst="straightConnector1">
              <a:avLst/>
            </a:prstGeom>
            <a:noFill/>
            <a:ln w="9525" cap="flat" cmpd="sng">
              <a:solidFill>
                <a:srgbClr val="CC01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24"/>
            <p:cNvSpPr txBox="1"/>
            <p:nvPr/>
          </p:nvSpPr>
          <p:spPr>
            <a:xfrm>
              <a:off x="6640486" y="2598925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Feature Selection</a:t>
              </a:r>
              <a:endParaRPr sz="1200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dirty="0"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Balancing dimensionality versus interpretability </a:t>
              </a:r>
              <a:endParaRPr sz="1200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6424027" y="3212150"/>
              <a:ext cx="198600" cy="198300"/>
            </a:xfrm>
            <a:prstGeom prst="ellipse">
              <a:avLst/>
            </a:prstGeom>
            <a:solidFill>
              <a:srgbClr val="CC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65" name="Google Shape;265;p24"/>
          <p:cNvGrpSpPr/>
          <p:nvPr/>
        </p:nvGrpSpPr>
        <p:grpSpPr>
          <a:xfrm>
            <a:off x="636321" y="1638728"/>
            <a:ext cx="2994729" cy="1384500"/>
            <a:chOff x="636321" y="1844098"/>
            <a:chExt cx="2994729" cy="1384500"/>
          </a:xfrm>
        </p:grpSpPr>
        <p:sp>
          <p:nvSpPr>
            <p:cNvPr id="266" name="Google Shape;266;p24"/>
            <p:cNvSpPr txBox="1"/>
            <p:nvPr/>
          </p:nvSpPr>
          <p:spPr>
            <a:xfrm>
              <a:off x="636321" y="1844098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 Processing</a:t>
              </a:r>
              <a:endParaRPr sz="1200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Cleaning, aligning, and standardizing 30+ years of mixed-frequency data</a:t>
              </a:r>
              <a:endParaRPr sz="1200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cxnSp>
          <p:nvCxnSpPr>
            <p:cNvPr id="267" name="Google Shape;267;p24"/>
            <p:cNvCxnSpPr/>
            <p:nvPr/>
          </p:nvCxnSpPr>
          <p:spPr>
            <a:xfrm rot="10800000">
              <a:off x="2587350" y="2536350"/>
              <a:ext cx="1043700" cy="0"/>
            </a:xfrm>
            <a:prstGeom prst="straightConnector1">
              <a:avLst/>
            </a:prstGeom>
            <a:noFill/>
            <a:ln w="9525" cap="flat" cmpd="sng">
              <a:solidFill>
                <a:srgbClr val="CC01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8" name="Google Shape;268;p24"/>
            <p:cNvSpPr/>
            <p:nvPr/>
          </p:nvSpPr>
          <p:spPr>
            <a:xfrm>
              <a:off x="2523501" y="2431050"/>
              <a:ext cx="198600" cy="198300"/>
            </a:xfrm>
            <a:prstGeom prst="ellipse">
              <a:avLst/>
            </a:prstGeom>
            <a:solidFill>
              <a:srgbClr val="CC0100"/>
            </a:solidFill>
            <a:ln w="9525" cap="flat" cmpd="sng">
              <a:solidFill>
                <a:srgbClr val="CC01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69" name="Google Shape;269;p24"/>
          <p:cNvGrpSpPr/>
          <p:nvPr/>
        </p:nvGrpSpPr>
        <p:grpSpPr>
          <a:xfrm>
            <a:off x="4908100" y="737545"/>
            <a:ext cx="3599586" cy="1384500"/>
            <a:chOff x="4908100" y="889950"/>
            <a:chExt cx="3599586" cy="1384500"/>
          </a:xfrm>
        </p:grpSpPr>
        <p:cxnSp>
          <p:nvCxnSpPr>
            <p:cNvPr id="270" name="Google Shape;270;p24"/>
            <p:cNvCxnSpPr/>
            <p:nvPr/>
          </p:nvCxnSpPr>
          <p:spPr>
            <a:xfrm>
              <a:off x="4908100" y="1593250"/>
              <a:ext cx="1715100" cy="0"/>
            </a:xfrm>
            <a:prstGeom prst="straightConnector1">
              <a:avLst/>
            </a:prstGeom>
            <a:noFill/>
            <a:ln w="9525" cap="flat" cmpd="sng">
              <a:solidFill>
                <a:srgbClr val="CC01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1" name="Google Shape;271;p24"/>
            <p:cNvSpPr txBox="1"/>
            <p:nvPr/>
          </p:nvSpPr>
          <p:spPr>
            <a:xfrm>
              <a:off x="6640486" y="889950"/>
              <a:ext cx="1867200" cy="13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Iteration and Analysis</a:t>
              </a:r>
              <a:endParaRPr sz="1200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 dirty="0"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Interpreting regimes, refining inputs, repeating</a:t>
              </a:r>
              <a:endParaRPr sz="1200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6427830" y="1493307"/>
              <a:ext cx="198600" cy="198300"/>
            </a:xfrm>
            <a:prstGeom prst="ellipse">
              <a:avLst/>
            </a:prstGeom>
            <a:solidFill>
              <a:srgbClr val="CC01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273" name="Google Shape;273;p24"/>
          <p:cNvGrpSpPr/>
          <p:nvPr/>
        </p:nvGrpSpPr>
        <p:grpSpPr>
          <a:xfrm>
            <a:off x="2896494" y="908655"/>
            <a:ext cx="3351021" cy="3100459"/>
            <a:chOff x="2991269" y="1153325"/>
            <a:chExt cx="3514811" cy="3252003"/>
          </a:xfrm>
        </p:grpSpPr>
        <p:sp>
          <p:nvSpPr>
            <p:cNvPr id="274" name="Google Shape;274;p24"/>
            <p:cNvSpPr/>
            <p:nvPr/>
          </p:nvSpPr>
          <p:spPr>
            <a:xfrm>
              <a:off x="3477586" y="2585458"/>
              <a:ext cx="2541910" cy="950456"/>
            </a:xfrm>
            <a:custGeom>
              <a:avLst/>
              <a:gdLst/>
              <a:ahLst/>
              <a:cxnLst/>
              <a:rect l="l" t="t" r="r" b="b"/>
              <a:pathLst>
                <a:path w="126826" h="43529" extrusionOk="0">
                  <a:moveTo>
                    <a:pt x="0" y="20002"/>
                  </a:moveTo>
                  <a:lnTo>
                    <a:pt x="63389" y="43529"/>
                  </a:lnTo>
                  <a:lnTo>
                    <a:pt x="126826" y="19907"/>
                  </a:lnTo>
                  <a:lnTo>
                    <a:pt x="63580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2991269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CC0100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 flipH="1">
              <a:off x="4747852" y="3020977"/>
              <a:ext cx="1758228" cy="1384350"/>
            </a:xfrm>
            <a:custGeom>
              <a:avLst/>
              <a:gdLst/>
              <a:ahLst/>
              <a:cxnLst/>
              <a:rect l="l" t="t" r="r" b="b"/>
              <a:pathLst>
                <a:path w="87725" h="63817" extrusionOk="0">
                  <a:moveTo>
                    <a:pt x="24288" y="0"/>
                  </a:moveTo>
                  <a:lnTo>
                    <a:pt x="0" y="29908"/>
                  </a:lnTo>
                  <a:lnTo>
                    <a:pt x="87725" y="63817"/>
                  </a:lnTo>
                  <a:lnTo>
                    <a:pt x="87725" y="42291"/>
                  </a:lnTo>
                  <a:lnTo>
                    <a:pt x="87725" y="23526"/>
                  </a:lnTo>
                  <a:close/>
                </a:path>
              </a:pathLst>
            </a:custGeom>
            <a:solidFill>
              <a:srgbClr val="B02B20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3969199" y="2001324"/>
              <a:ext cx="1565850" cy="585863"/>
            </a:xfrm>
            <a:custGeom>
              <a:avLst/>
              <a:gdLst/>
              <a:ahLst/>
              <a:cxnLst/>
              <a:rect l="l" t="t" r="r" b="b"/>
              <a:pathLst>
                <a:path w="24053" h="8150" extrusionOk="0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56325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CC0100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79" name="Google Shape;279;p24"/>
            <p:cNvSpPr/>
            <p:nvPr/>
          </p:nvSpPr>
          <p:spPr>
            <a:xfrm flipH="1">
              <a:off x="4749365" y="2275837"/>
              <a:ext cx="1189300" cy="1015326"/>
            </a:xfrm>
            <a:custGeom>
              <a:avLst/>
              <a:gdLst/>
              <a:ahLst/>
              <a:cxnLst/>
              <a:rect l="l" t="t" r="r" b="b"/>
              <a:pathLst>
                <a:path w="18238" h="14114" extrusionOk="0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B02B20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4059061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CC0100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281" name="Google Shape;281;p24"/>
            <p:cNvSpPr/>
            <p:nvPr/>
          </p:nvSpPr>
          <p:spPr>
            <a:xfrm flipH="1">
              <a:off x="4749350" y="1153325"/>
              <a:ext cx="693508" cy="1201140"/>
            </a:xfrm>
            <a:custGeom>
              <a:avLst/>
              <a:gdLst/>
              <a:ahLst/>
              <a:cxnLst/>
              <a:rect l="l" t="t" r="r" b="b"/>
              <a:pathLst>
                <a:path w="10635" h="16697" extrusionOk="0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B02B20"/>
            </a:solidFill>
            <a:ln>
              <a:noFill/>
            </a:ln>
          </p:spPr>
          <p:txBody>
            <a:bodyPr/>
            <a:lstStyle/>
            <a:p>
              <a:endParaRPr lang="en-US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Future Work</a:t>
            </a:r>
            <a:endParaRPr sz="2800"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17</a:t>
            </a:fld>
            <a:endParaRPr dirty="0"/>
          </a:p>
        </p:txBody>
      </p:sp>
      <p:grpSp>
        <p:nvGrpSpPr>
          <p:cNvPr id="310" name="Google Shape;310;p28"/>
          <p:cNvGrpSpPr/>
          <p:nvPr/>
        </p:nvGrpSpPr>
        <p:grpSpPr>
          <a:xfrm>
            <a:off x="0" y="1190004"/>
            <a:ext cx="4571954" cy="3482836"/>
            <a:chOff x="0" y="1189989"/>
            <a:chExt cx="3546900" cy="3482836"/>
          </a:xfrm>
        </p:grpSpPr>
        <p:sp>
          <p:nvSpPr>
            <p:cNvPr id="311" name="Google Shape;311;p28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name="adj" fmla="val 50000"/>
              </a:avLst>
            </a:prstGeom>
            <a:solidFill>
              <a:srgbClr val="801F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rgbClr val="FFFFFF"/>
                  </a:solidFill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So far</a:t>
              </a:r>
              <a:endParaRPr sz="2000" dirty="0">
                <a:solidFill>
                  <a:srgbClr val="FFFFFF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312" name="Google Shape;312;p28"/>
            <p:cNvSpPr txBox="1"/>
            <p:nvPr/>
          </p:nvSpPr>
          <p:spPr>
            <a:xfrm>
              <a:off x="655361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latin typeface="Aptos" panose="020B0004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Detected a robust time series of market regime dynamics</a:t>
              </a:r>
              <a:endParaRPr sz="1600" dirty="0"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313" name="Google Shape;313;p28"/>
          <p:cNvGrpSpPr/>
          <p:nvPr/>
        </p:nvGrpSpPr>
        <p:grpSpPr>
          <a:xfrm>
            <a:off x="4256748" y="1189951"/>
            <a:ext cx="4391622" cy="3482702"/>
            <a:chOff x="2944204" y="1189775"/>
            <a:chExt cx="3305700" cy="3483050"/>
          </a:xfrm>
        </p:grpSpPr>
        <p:sp>
          <p:nvSpPr>
            <p:cNvPr id="314" name="Google Shape;314;p28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name="adj" fmla="val 50000"/>
              </a:avLst>
            </a:prstGeom>
            <a:solidFill>
              <a:srgbClr val="B02B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What’s next</a:t>
              </a:r>
              <a:endParaRPr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15" name="Google Shape;315;p28"/>
            <p:cNvSpPr txBox="1"/>
            <p:nvPr/>
          </p:nvSpPr>
          <p:spPr>
            <a:xfrm>
              <a:off x="3478949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latin typeface="Roboto"/>
                  <a:ea typeface="Roboto"/>
                  <a:cs typeface="Roboto"/>
                  <a:sym typeface="Roboto"/>
                </a:rPr>
                <a:t>Stress test investment strategies across varying regime dynamics</a:t>
              </a:r>
              <a:endParaRPr sz="16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>
            <a:spLocks noGrp="1"/>
          </p:cNvSpPr>
          <p:nvPr>
            <p:ph type="title"/>
          </p:nvPr>
        </p:nvSpPr>
        <p:spPr>
          <a:xfrm>
            <a:off x="114300" y="1365525"/>
            <a:ext cx="89154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321" name="Google Shape;321;p29"/>
          <p:cNvSpPr txBox="1">
            <a:spLocks noGrp="1"/>
          </p:cNvSpPr>
          <p:nvPr>
            <p:ph type="sldNum" idx="12"/>
          </p:nvPr>
        </p:nvSpPr>
        <p:spPr>
          <a:xfrm>
            <a:off x="8595300" y="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0"/>
          <p:cNvSpPr txBox="1"/>
          <p:nvPr/>
        </p:nvSpPr>
        <p:spPr>
          <a:xfrm>
            <a:off x="0" y="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Market Regimes</a:t>
            </a:r>
            <a:endParaRPr sz="2800" dirty="0">
              <a:solidFill>
                <a:srgbClr val="CC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7" name="Google Shape;327;p30"/>
          <p:cNvSpPr/>
          <p:nvPr/>
        </p:nvSpPr>
        <p:spPr>
          <a:xfrm>
            <a:off x="621550" y="795725"/>
            <a:ext cx="2130900" cy="494700"/>
          </a:xfrm>
          <a:prstGeom prst="roundRect">
            <a:avLst>
              <a:gd name="adj" fmla="val 16667"/>
            </a:avLst>
          </a:prstGeom>
          <a:solidFill>
            <a:srgbClr val="CC0100"/>
          </a:solidFill>
          <a:ln w="9525" cap="flat" cmpd="sng">
            <a:solidFill>
              <a:srgbClr val="CC0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Crisis</a:t>
            </a:r>
            <a:endParaRPr sz="18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8" name="Google Shape;328;p30"/>
          <p:cNvSpPr/>
          <p:nvPr/>
        </p:nvSpPr>
        <p:spPr>
          <a:xfrm>
            <a:off x="621550" y="1649863"/>
            <a:ext cx="2130900" cy="494700"/>
          </a:xfrm>
          <a:prstGeom prst="roundRect">
            <a:avLst>
              <a:gd name="adj" fmla="val 16667"/>
            </a:avLst>
          </a:prstGeom>
          <a:solidFill>
            <a:srgbClr val="CC0100"/>
          </a:solidFill>
          <a:ln w="9525" cap="flat" cmpd="sng">
            <a:solidFill>
              <a:srgbClr val="CC0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Steady State</a:t>
            </a:r>
            <a:endParaRPr sz="18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29" name="Google Shape;329;p30"/>
          <p:cNvSpPr/>
          <p:nvPr/>
        </p:nvSpPr>
        <p:spPr>
          <a:xfrm>
            <a:off x="621550" y="2504038"/>
            <a:ext cx="2130900" cy="494700"/>
          </a:xfrm>
          <a:prstGeom prst="roundRect">
            <a:avLst>
              <a:gd name="adj" fmla="val 16667"/>
            </a:avLst>
          </a:prstGeom>
          <a:solidFill>
            <a:srgbClr val="CC0100"/>
          </a:solidFill>
          <a:ln w="9525" cap="flat" cmpd="sng">
            <a:solidFill>
              <a:srgbClr val="CC0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Inflation</a:t>
            </a:r>
            <a:endParaRPr sz="18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0" name="Google Shape;330;p30"/>
          <p:cNvSpPr/>
          <p:nvPr/>
        </p:nvSpPr>
        <p:spPr>
          <a:xfrm>
            <a:off x="621550" y="3373950"/>
            <a:ext cx="2130900" cy="494700"/>
          </a:xfrm>
          <a:prstGeom prst="roundRect">
            <a:avLst>
              <a:gd name="adj" fmla="val 16667"/>
            </a:avLst>
          </a:prstGeom>
          <a:solidFill>
            <a:srgbClr val="CC0100"/>
          </a:solidFill>
          <a:ln w="9525" cap="flat" cmpd="sng">
            <a:solidFill>
              <a:srgbClr val="CC01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Walking on ice</a:t>
            </a:r>
            <a:endParaRPr sz="18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3027575" y="704675"/>
            <a:ext cx="5623200" cy="98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</a:pPr>
            <a:r>
              <a:rPr lang="en" sz="1598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Broad de-risking that equities and credit fall and volatility and correlations rise.</a:t>
            </a:r>
            <a:endParaRPr sz="1598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2" name="Google Shape;332;p30"/>
          <p:cNvSpPr txBox="1"/>
          <p:nvPr/>
        </p:nvSpPr>
        <p:spPr>
          <a:xfrm>
            <a:off x="3027575" y="1560925"/>
            <a:ext cx="5164800" cy="98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</a:pPr>
            <a:r>
              <a:rPr lang="en" sz="1598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Calm and balanced environment with broadly positive risk premia and stable trends.</a:t>
            </a:r>
            <a:endParaRPr sz="1598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3027575" y="2417200"/>
            <a:ext cx="5593200" cy="98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</a:pPr>
            <a:r>
              <a:rPr lang="en" sz="1598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Inflation hedges lead because higher rates pressure bonds and equities lag.</a:t>
            </a:r>
            <a:endParaRPr sz="1598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3027575" y="3286525"/>
            <a:ext cx="5623200" cy="98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199"/>
              </a:spcBef>
              <a:spcAft>
                <a:spcPts val="1199"/>
              </a:spcAft>
              <a:buNone/>
            </a:pPr>
            <a:r>
              <a:rPr lang="en" sz="1598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Risky but fragile that prices advance while choppiness and reversal risk stay elevated.</a:t>
            </a:r>
            <a:endParaRPr sz="1598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5" name="Google Shape;335;p30"/>
          <p:cNvSpPr txBox="1">
            <a:spLocks noGrp="1"/>
          </p:cNvSpPr>
          <p:nvPr>
            <p:ph type="sldNum" idx="12"/>
          </p:nvPr>
        </p:nvSpPr>
        <p:spPr>
          <a:xfrm>
            <a:off x="8406534" y="860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1"/>
          <p:cNvSpPr txBox="1"/>
          <p:nvPr/>
        </p:nvSpPr>
        <p:spPr>
          <a:xfrm>
            <a:off x="0" y="113825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CC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4761002" y="1111700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2" name="Google Shape;342;p31"/>
          <p:cNvSpPr/>
          <p:nvPr/>
        </p:nvSpPr>
        <p:spPr>
          <a:xfrm flipH="1">
            <a:off x="1684797" y="1111700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3" name="Google Shape;343;p31"/>
          <p:cNvSpPr/>
          <p:nvPr/>
        </p:nvSpPr>
        <p:spPr>
          <a:xfrm rot="10800000" flipH="1">
            <a:off x="4753569" y="2412825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44" name="Google Shape;344;p31"/>
          <p:cNvSpPr/>
          <p:nvPr/>
        </p:nvSpPr>
        <p:spPr>
          <a:xfrm rot="10800000">
            <a:off x="1684797" y="2412825"/>
            <a:ext cx="2698200" cy="1073400"/>
          </a:xfrm>
          <a:prstGeom prst="round2DiagRect">
            <a:avLst>
              <a:gd name="adj1" fmla="val 18519"/>
              <a:gd name="adj2" fmla="val 0"/>
            </a:avLst>
          </a:prstGeom>
          <a:solidFill>
            <a:srgbClr val="CC0100"/>
          </a:solidFill>
          <a:ln w="113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8850" tIns="108850" rIns="108850" bIns="1088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1910550" y="2690375"/>
            <a:ext cx="224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6" name="Google Shape;346;p31"/>
          <p:cNvSpPr txBox="1"/>
          <p:nvPr/>
        </p:nvSpPr>
        <p:spPr>
          <a:xfrm>
            <a:off x="4910917" y="2672475"/>
            <a:ext cx="23835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7" name="Google Shape;347;p31"/>
          <p:cNvSpPr txBox="1">
            <a:spLocks noGrp="1"/>
          </p:cNvSpPr>
          <p:nvPr>
            <p:ph type="sldNum" idx="12"/>
          </p:nvPr>
        </p:nvSpPr>
        <p:spPr>
          <a:xfrm>
            <a:off x="8408484" y="1747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 sz="2000"/>
              <a:t>20</a:t>
            </a:fld>
            <a:endParaRPr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2"/>
          <p:cNvSpPr txBox="1"/>
          <p:nvPr/>
        </p:nvSpPr>
        <p:spPr>
          <a:xfrm>
            <a:off x="1341200" y="157975"/>
            <a:ext cx="69345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CC0100"/>
                </a:solidFill>
                <a:latin typeface="Calibri"/>
                <a:ea typeface="Calibri"/>
                <a:cs typeface="Calibri"/>
                <a:sym typeface="Calibri"/>
              </a:rPr>
              <a:t>Choosing the Right Number of Clusters (K)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53" name="Google Shape;353;p32"/>
          <p:cNvSpPr txBox="1"/>
          <p:nvPr/>
        </p:nvSpPr>
        <p:spPr>
          <a:xfrm>
            <a:off x="242725" y="1094075"/>
            <a:ext cx="4238100" cy="28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No fixed rule — depends on data pattern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Elbow Method: Plot inertia vs K.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Silhouette Score: Measures cluster separation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Select K where model performance stabilizes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pic>
        <p:nvPicPr>
          <p:cNvPr id="354" name="Google Shape;35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1025" y="955675"/>
            <a:ext cx="4560574" cy="29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"/>
          <p:cNvSpPr txBox="1"/>
          <p:nvPr/>
        </p:nvSpPr>
        <p:spPr>
          <a:xfrm>
            <a:off x="1578150" y="0"/>
            <a:ext cx="5987700" cy="7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1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Gaussian Mixture Models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0" y="617475"/>
            <a:ext cx="9144000" cy="34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Core Model: The probability of observing a market return on a given day (</a:t>
            </a:r>
            <a:r>
              <a:rPr lang="en" sz="13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x</a:t>
            </a:r>
            <a:r>
              <a:rPr lang="en" sz="1300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</a:t>
            </a:r>
            <a:r>
              <a:rPr lang="en" sz="1300" baseline="-250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</a:t>
            </a: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is a weighted sum of its probability in each of the K possible regimes.</a:t>
            </a:r>
            <a:endParaRPr sz="13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Explanation: This formula defines a regime. Each regime k has a weight (π</a:t>
            </a:r>
            <a:r>
              <a:rPr lang="en" sz="1300" baseline="-250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k​</a:t>
            </a: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), an average return (</a:t>
            </a:r>
            <a:r>
              <a:rPr lang="en" sz="13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μ</a:t>
            </a:r>
            <a:r>
              <a:rPr lang="en" sz="1300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​), and a volatility/correlation structure (</a:t>
            </a:r>
            <a:r>
              <a:rPr lang="en" sz="13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Σ</a:t>
            </a:r>
            <a:r>
              <a:rPr lang="en" sz="1300" baseline="-25000" dirty="0" err="1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​).</a:t>
            </a:r>
            <a:endParaRPr sz="13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111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ld Standard TT"/>
              <a:buChar char="●"/>
            </a:pP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Challenge: Maximum Likelihood To find the best parameters, we need to maximize the log-likelihood of our data.</a:t>
            </a:r>
            <a:b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sz="13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 dirty="0">
                <a:solidFill>
                  <a:schemeClr val="dk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Explanation: The sum inside the logarithm makes this equation very difficult to solve directly. We don't know which regime generated a specific day's return, so we can't easily optimize the parameters.</a:t>
            </a:r>
            <a:endParaRPr sz="1300"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62" name="Google Shape;3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8225" y="1030525"/>
            <a:ext cx="1827550" cy="48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9550" y="2948700"/>
            <a:ext cx="2824900" cy="538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 txBox="1"/>
          <p:nvPr/>
        </p:nvSpPr>
        <p:spPr>
          <a:xfrm>
            <a:off x="1578150" y="197825"/>
            <a:ext cx="5987700" cy="7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rgbClr val="CC01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Gaussian Mixture Models</a:t>
            </a:r>
            <a:endParaRPr sz="2800" dirty="0">
              <a:solidFill>
                <a:srgbClr val="CC01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0" y="784175"/>
            <a:ext cx="91440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Expectation-Maximization (E-M)</a:t>
            </a: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048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E-Step: Calculate Regime Probabilities ("Responsibilities") First, we calculate the probability that each day n belongs to each regime k.</a:t>
            </a:r>
            <a:b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Explanation: This is a "soft assignment." For each day, we get a score for every regime (e.g., 70% chance it was Regime 1, 30% chance it was Regime 2).</a:t>
            </a:r>
            <a:endParaRPr sz="1200"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dirty="0"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lvl="0" indent="-3048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M-Step: Update the Regime Definitions Next, we use these responsibility scores (</a:t>
            </a:r>
            <a:r>
              <a:rPr lang="en" sz="1200" dirty="0" err="1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γ</a:t>
            </a: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as weights to update the parameters for each regime.</a:t>
            </a: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 Mean (</a:t>
            </a:r>
            <a:r>
              <a:rPr lang="en" sz="1200" dirty="0" err="1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μ</a:t>
            </a:r>
            <a:r>
              <a:rPr lang="en" sz="1200" baseline="-25000" dirty="0" err="1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​): The regime's new average return is the weighted average of all returns.</a:t>
            </a: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 Covariance (</a:t>
            </a:r>
            <a:r>
              <a:rPr lang="en" sz="1200" dirty="0" err="1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Σ</a:t>
            </a:r>
            <a:r>
              <a:rPr lang="en" sz="1200" baseline="-25000" dirty="0" err="1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</a:t>
            </a: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​): The regime's new volatility/correlation is the weighted average of daily price movements.</a:t>
            </a: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914400" lvl="1" indent="-3048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Update Weight (π</a:t>
            </a:r>
            <a:r>
              <a:rPr lang="en" sz="1200" baseline="-250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k​</a:t>
            </a:r>
            <a:r>
              <a:rPr lang="en" sz="1200" dirty="0">
                <a:solidFill>
                  <a:srgbClr val="000000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): The regime's new overall weight is the average responsibility it had across all days.</a:t>
            </a: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solidFill>
                <a:srgbClr val="000000"/>
              </a:solidFill>
              <a:latin typeface="Aptos" panose="020B0004020202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71" name="Google Shape;37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3621" y="1511875"/>
            <a:ext cx="2362866" cy="48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>
            <a:spLocks noGrp="1"/>
          </p:cNvSpPr>
          <p:nvPr>
            <p:ph type="title"/>
          </p:nvPr>
        </p:nvSpPr>
        <p:spPr>
          <a:xfrm>
            <a:off x="152400" y="0"/>
            <a:ext cx="8915400" cy="99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Coding Methodology</a:t>
            </a:r>
            <a:endParaRPr sz="2800" dirty="0"/>
          </a:p>
        </p:txBody>
      </p:sp>
      <p:sp>
        <p:nvSpPr>
          <p:cNvPr id="378" name="Google Shape;378;p35"/>
          <p:cNvSpPr txBox="1">
            <a:spLocks noGrp="1"/>
          </p:cNvSpPr>
          <p:nvPr>
            <p:ph type="body" idx="1"/>
          </p:nvPr>
        </p:nvSpPr>
        <p:spPr>
          <a:xfrm>
            <a:off x="731250" y="994200"/>
            <a:ext cx="7757700" cy="24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>
                <a:sym typeface="Arial"/>
              </a:rPr>
              <a:t>Created a </a:t>
            </a:r>
            <a:r>
              <a:rPr lang="en" sz="1600" dirty="0" err="1">
                <a:sym typeface="Arial"/>
              </a:rPr>
              <a:t>github</a:t>
            </a:r>
            <a:r>
              <a:rPr lang="en" sz="1600" dirty="0">
                <a:sym typeface="Arial"/>
              </a:rPr>
              <a:t> and collaborated with others there </a:t>
            </a:r>
            <a:endParaRPr sz="1600" dirty="0"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>
                <a:sym typeface="Arial"/>
              </a:rPr>
              <a:t>Database Initialization: Set up the schema and structure to store financial and microeconomic data.</a:t>
            </a:r>
            <a:endParaRPr sz="1600" dirty="0"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>
                <a:sym typeface="Arial"/>
              </a:rPr>
              <a:t>Data integration: From there pulled APIs and files from Bloomberg, FRED and Fama-French sources</a:t>
            </a:r>
            <a:endParaRPr sz="1600" dirty="0"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" sz="1600" dirty="0">
                <a:sym typeface="Arial"/>
              </a:rPr>
              <a:t>Data Processing: computed returns, created consistent identifiers for assets/instruments across models for reproducibility, managed dependencies with pandas, </a:t>
            </a:r>
            <a:r>
              <a:rPr lang="en" sz="1600" dirty="0" err="1">
                <a:sym typeface="Arial"/>
              </a:rPr>
              <a:t>numpy</a:t>
            </a:r>
            <a:r>
              <a:rPr lang="en" sz="1600" dirty="0">
                <a:sym typeface="Arial"/>
              </a:rPr>
              <a:t>, </a:t>
            </a:r>
            <a:r>
              <a:rPr lang="en" sz="1600" dirty="0" err="1">
                <a:sym typeface="Arial"/>
              </a:rPr>
              <a:t>statsmodels</a:t>
            </a:r>
            <a:r>
              <a:rPr lang="en" sz="1600" dirty="0">
                <a:sym typeface="Arial"/>
              </a:rPr>
              <a:t> and </a:t>
            </a:r>
            <a:r>
              <a:rPr lang="en" sz="1600" dirty="0" err="1">
                <a:sym typeface="Arial"/>
              </a:rPr>
              <a:t>SQLAlchemy</a:t>
            </a:r>
            <a:r>
              <a:rPr lang="en" sz="1600" dirty="0">
                <a:sym typeface="Arial"/>
              </a:rPr>
              <a:t>.</a:t>
            </a:r>
            <a:endParaRPr sz="1600" dirty="0"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en" sz="1600" dirty="0">
                <a:sym typeface="Arial"/>
              </a:rPr>
              <a:t>Visualization: Developed visualizations to display and interpret GMM results.</a:t>
            </a:r>
            <a:endParaRPr sz="1600" dirty="0"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ym typeface="Arial"/>
            </a:endParaRPr>
          </a:p>
        </p:txBody>
      </p:sp>
      <p:sp>
        <p:nvSpPr>
          <p:cNvPr id="379" name="Google Shape;379;p35"/>
          <p:cNvSpPr txBox="1">
            <a:spLocks noGrp="1"/>
          </p:cNvSpPr>
          <p:nvPr>
            <p:ph type="sldNum" idx="12"/>
          </p:nvPr>
        </p:nvSpPr>
        <p:spPr>
          <a:xfrm>
            <a:off x="8407734" y="1610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24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w 2018 CS PPTX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</TotalTime>
  <Words>1304</Words>
  <Application>Microsoft Macintosh PowerPoint</Application>
  <PresentationFormat>On-screen Show (16:9)</PresentationFormat>
  <Paragraphs>234</Paragraphs>
  <Slides>24</Slides>
  <Notes>24</Notes>
  <HiddenSlides>6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Aptos</vt:lpstr>
      <vt:lpstr>Open Sans</vt:lpstr>
      <vt:lpstr>Calibri</vt:lpstr>
      <vt:lpstr>Roboto Thin</vt:lpstr>
      <vt:lpstr>Roboto</vt:lpstr>
      <vt:lpstr>Cambria</vt:lpstr>
      <vt:lpstr>Arial</vt:lpstr>
      <vt:lpstr>Aptos Display</vt:lpstr>
      <vt:lpstr>Old Standard TT</vt:lpstr>
      <vt:lpstr>New 2018 CS PPTX</vt:lpstr>
      <vt:lpstr>Custom Design</vt:lpstr>
      <vt:lpstr>1_Custom Design</vt:lpstr>
      <vt:lpstr>Decoding Market DNA:  A Machine Learning Regime  Detection 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Performance Metrics</vt:lpstr>
      <vt:lpstr>Results</vt:lpstr>
      <vt:lpstr>PowerPoint Presentation</vt:lpstr>
      <vt:lpstr>PowerPoint Presentation</vt:lpstr>
      <vt:lpstr>Challenges</vt:lpstr>
      <vt:lpstr>Future Work</vt:lpstr>
      <vt:lpstr>Thank you!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Coding Methodology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Isaiah Nick</cp:lastModifiedBy>
  <cp:revision>9</cp:revision>
  <dcterms:modified xsi:type="dcterms:W3CDTF">2025-11-19T04:58:00Z</dcterms:modified>
</cp:coreProperties>
</file>